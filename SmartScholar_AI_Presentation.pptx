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67EEA"/>
                </a:solidFill>
                <a:latin typeface="Calibri"/>
              </a:defRPr>
            </a:pPr>
            <a:r>
              <a:t>🎓 SmartScholar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  <a:latin typeface="Calibri"/>
              </a:defRPr>
            </a:pPr>
            <a:r>
              <a:t>AI-Powered Research &amp; Study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Calibri"/>
              </a:defRPr>
            </a:pPr>
            <a:r>
              <a:t>Upload documents • Ask questions • Get intelligent, grounded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4572000"/>
            <a:ext cx="3931920" cy="36576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937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Calibri"/>
              </a:defRPr>
            </a:pPr>
            <a:r>
              <a:t>Vardhan Kumar K S  |  NeoStats AI Engineer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94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67EEA"/>
                </a:solidFill>
                <a:latin typeface="Calibri"/>
              </a:defRPr>
            </a:pPr>
            <a:r>
              <a:t>Use Case Objective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3657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6B7280"/>
                </a:solidFill>
                <a:latin typeface="Calibri"/>
              </a:defRPr>
            </a:pPr>
            <a:r>
              <a:t>• Students and researchers spend hours searching through multiple documents for answers</a:t>
            </a:r>
          </a:p>
          <a:p>
            <a:pPr>
              <a:spcAft>
                <a:spcPts val="1000"/>
              </a:spcAft>
              <a:defRPr sz="1700">
                <a:solidFill>
                  <a:srgbClr val="6B7280"/>
                </a:solidFill>
                <a:latin typeface="Calibri"/>
              </a:defRPr>
            </a:pPr>
            <a:r>
              <a:t>• Traditional keyword search doesn't understand context or meaning</a:t>
            </a:r>
          </a:p>
          <a:p>
            <a:pPr>
              <a:spcAft>
                <a:spcPts val="1000"/>
              </a:spcAft>
              <a:defRPr sz="1700">
                <a:solidFill>
                  <a:srgbClr val="6B7280"/>
                </a:solidFill>
                <a:latin typeface="Calibri"/>
              </a:defRPr>
            </a:pPr>
            <a:r>
              <a:t>• Information is often scattered across PDFs, notes, and the web</a:t>
            </a:r>
          </a:p>
          <a:p>
            <a:pPr>
              <a:spcAft>
                <a:spcPts val="1000"/>
              </a:spcAft>
              <a:defRPr sz="1700">
                <a:solidFill>
                  <a:srgbClr val="6B7280"/>
                </a:solidFill>
                <a:latin typeface="Calibri"/>
              </a:defRPr>
            </a:pPr>
            <a:r>
              <a:t>• No single tool combines document Q&amp;A with real-time web 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6B7280"/>
                </a:solidFill>
                <a:latin typeface="Calibri"/>
              </a:defRPr>
            </a:pPr>
            <a:r>
              <a:t>• SmartScholar AI — an intelligent chatbot that understands your documents</a:t>
            </a:r>
          </a:p>
          <a:p>
            <a:pPr>
              <a:spcAft>
                <a:spcPts val="1000"/>
              </a:spcAft>
              <a:defRPr sz="1700">
                <a:solidFill>
                  <a:srgbClr val="6B7280"/>
                </a:solidFill>
                <a:latin typeface="Calibri"/>
              </a:defRPr>
            </a:pPr>
            <a:r>
              <a:t>• Uses RAG (Retrieval-Augmented Generation) to ground answers in uploaded materials</a:t>
            </a:r>
          </a:p>
          <a:p>
            <a:pPr>
              <a:spcAft>
                <a:spcPts val="1000"/>
              </a:spcAft>
              <a:defRPr sz="1700">
                <a:solidFill>
                  <a:srgbClr val="6B7280"/>
                </a:solidFill>
                <a:latin typeface="Calibri"/>
              </a:defRPr>
            </a:pPr>
            <a:r>
              <a:t>• Supplements with live web search for real-time, up-to-date information</a:t>
            </a:r>
          </a:p>
          <a:p>
            <a:pPr>
              <a:spcAft>
                <a:spcPts val="1000"/>
              </a:spcAft>
              <a:defRPr sz="1700">
                <a:solidFill>
                  <a:srgbClr val="6B7280"/>
                </a:solidFill>
                <a:latin typeface="Calibri"/>
              </a:defRPr>
            </a:pPr>
            <a:r>
              <a:t>• Adapts response depth (Concise / Detailed) to match the user's needs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67EEA"/>
                </a:solidFill>
                <a:latin typeface="Calibri"/>
              </a:defRPr>
            </a:pPr>
            <a:r>
              <a:t>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3657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651760" cy="25603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67EEA"/>
                </a:solidFill>
                <a:latin typeface="Calibri"/>
              </a:defRPr>
            </a:pPr>
            <a:r>
              <a:t>1. Document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Upload PDF / DOCX / TXT files</a:t>
            </a:r>
            <a:br/>
            <a:r>
              <a:t>→ Extract text</a:t>
            </a:r>
            <a:br/>
            <a:r>
              <a:t>→ Split into overlapping chunks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54480"/>
            <a:ext cx="2651760" cy="25603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67EEA"/>
                </a:solidFill>
                <a:latin typeface="Calibri"/>
              </a:defRPr>
            </a:pPr>
            <a:r>
              <a:t>2. Vector Embedding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1945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Embed chunks using Google</a:t>
            </a:r>
            <a:br/>
            <a:r>
              <a:t>Gemini Embedding API</a:t>
            </a:r>
            <a:br/>
            <a:r>
              <a:t>→ Store in FAISS index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554480"/>
            <a:ext cx="2651760" cy="25603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39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67EEA"/>
                </a:solidFill>
                <a:latin typeface="Calibri"/>
              </a:defRPr>
            </a:pPr>
            <a:r>
              <a:t>3. Semantic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39" y="21945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User query embedded</a:t>
            </a:r>
            <a:br/>
            <a:r>
              <a:t>→ Cosine similarity search</a:t>
            </a:r>
            <a:br/>
            <a:r>
              <a:t>→ Top-K relevant chunks retrieved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19" y="1554480"/>
            <a:ext cx="2651760" cy="25603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599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67EEA"/>
                </a:solidFill>
                <a:latin typeface="Calibri"/>
              </a:defRPr>
            </a:pPr>
            <a:r>
              <a:t>4. Augmented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599" y="219456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Context + query sent to LLM</a:t>
            </a:r>
            <a:br/>
            <a:r>
              <a:t>→ Grounded, sourced response</a:t>
            </a:r>
            <a:br/>
            <a:r>
              <a:t>→ Streamed to user in real-time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6B7280"/>
                </a:solidFill>
                <a:latin typeface="Calibri"/>
              </a:defRPr>
            </a:pPr>
            <a:r>
              <a:t>• Frontend: Streamlit (Python web framework for data apps)</a:t>
            </a:r>
          </a:p>
          <a:p>
            <a:pPr>
              <a:spcAft>
                <a:spcPts val="1000"/>
              </a:spcAft>
              <a:defRPr sz="1500">
                <a:solidFill>
                  <a:srgbClr val="6B7280"/>
                </a:solidFill>
                <a:latin typeface="Calibri"/>
              </a:defRPr>
            </a:pPr>
            <a:r>
              <a:t>• LLM Providers: Google Gemini 2.5 Flash / Groq Llama 3.3 / OpenAI GPT</a:t>
            </a:r>
          </a:p>
          <a:p>
            <a:pPr>
              <a:spcAft>
                <a:spcPts val="1000"/>
              </a:spcAft>
              <a:defRPr sz="1500">
                <a:solidFill>
                  <a:srgbClr val="6B7280"/>
                </a:solidFill>
                <a:latin typeface="Calibri"/>
              </a:defRPr>
            </a:pPr>
            <a:r>
              <a:t>• Embeddings: Google Gemini Embedding API (768-dim vectors)</a:t>
            </a:r>
          </a:p>
          <a:p>
            <a:pPr>
              <a:spcAft>
                <a:spcPts val="1000"/>
              </a:spcAft>
              <a:defRPr sz="1500">
                <a:solidFill>
                  <a:srgbClr val="6B7280"/>
                </a:solidFill>
                <a:latin typeface="Calibri"/>
              </a:defRPr>
            </a:pPr>
            <a:r>
              <a:t>• Vector Store: FAISS (Facebook AI Similarity Search) — in-memory, cosine similarity</a:t>
            </a:r>
          </a:p>
          <a:p>
            <a:pPr>
              <a:spcAft>
                <a:spcPts val="1000"/>
              </a:spcAft>
              <a:defRPr sz="1500">
                <a:solidFill>
                  <a:srgbClr val="6B7280"/>
                </a:solidFill>
                <a:latin typeface="Calibri"/>
              </a:defRPr>
            </a:pPr>
            <a:r>
              <a:t>• Web Search: DuckDuckGo (free, no API key required)</a:t>
            </a:r>
          </a:p>
          <a:p>
            <a:pPr>
              <a:spcAft>
                <a:spcPts val="1000"/>
              </a:spcAft>
              <a:defRPr sz="1500">
                <a:solidFill>
                  <a:srgbClr val="6B7280"/>
                </a:solidFill>
                <a:latin typeface="Calibri"/>
              </a:defRPr>
            </a:pPr>
            <a:r>
              <a:t>• Document Parsing: PyPDF2, python-docx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67EEA"/>
                </a:solidFill>
                <a:latin typeface="Calibri"/>
              </a:defRPr>
            </a:pPr>
            <a:r>
              <a:t>Features Implemented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3657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66160" cy="21031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📄 RAG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Upload PDF, DOCX, TXT → chunked, embedded,</a:t>
            </a:r>
            <a:br/>
            <a:r>
              <a:t>indexed in FAISS → contextual answers</a:t>
            </a:r>
            <a:br/>
            <a:r>
              <a:t>grounded in your documents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566160" cy="21031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🌐 Live Web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Toggle DuckDuckGo search for real-time</a:t>
            </a:r>
            <a:br/>
            <a:r>
              <a:t>web results when documents don't</a:t>
            </a:r>
            <a:br/>
            <a:r>
              <a:t>have the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63040"/>
            <a:ext cx="3566160" cy="21031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💬 Response Modes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1031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Concise mode: quick 2-3 sentence answers</a:t>
            </a:r>
            <a:br/>
            <a:r>
              <a:t>Detailed mode: comprehensive, in-depth</a:t>
            </a:r>
            <a:br/>
            <a:r>
              <a:t>explanations with examples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3566160" cy="21031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🤖 Multi-LLM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Switch between Google Gemini, Groq</a:t>
            </a:r>
            <a:br/>
            <a:r>
              <a:t>(Llama 3.3 70B), or OpenAI GPT</a:t>
            </a:r>
            <a:br/>
            <a:r>
              <a:t>with a dropdown selector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931920"/>
            <a:ext cx="3566160" cy="21031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069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📋 Source Attribution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572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Expandable panel showing which documents</a:t>
            </a:r>
            <a:br/>
            <a:r>
              <a:t>or web results informed each answer</a:t>
            </a:r>
            <a:br/>
            <a:r>
              <a:t>with relevance scores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931920"/>
            <a:ext cx="3566160" cy="21031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069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⚡ Streaming Responses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572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Real-time token-by-token output for</a:t>
            </a:r>
            <a:br/>
            <a:r>
              <a:t>instant feedback — no waiting for</a:t>
            </a:r>
            <a:br/>
            <a:r>
              <a:t>complete generation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67EEA"/>
                </a:solidFill>
                <a:latin typeface="Calibri"/>
              </a:defRPr>
            </a:pPr>
            <a:r>
              <a:t>Project Structure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3657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ourier New"/>
              </a:defRPr>
            </a:pPr>
            <a:r>
              <a:t>project/</a:t>
            </a:r>
            <a:br/>
            <a:r>
              <a:t>├── config/</a:t>
            </a:r>
            <a:br/>
            <a:r>
              <a:t>│   └── config.py           ← API keys, model settings, constants</a:t>
            </a:r>
            <a:br/>
            <a:r>
              <a:t>├── models/</a:t>
            </a:r>
            <a:br/>
            <a:r>
              <a:t>│   ├── llm.py              ← Multi-provider LLM interface</a:t>
            </a:r>
            <a:br/>
            <a:r>
              <a:t>│   └── embeddings.py       ← Embedding models for RAG</a:t>
            </a:r>
            <a:br/>
            <a:r>
              <a:t>├── utils/</a:t>
            </a:r>
            <a:br/>
            <a:r>
              <a:t>│   ├── document_processor.py ← PDF/DOCX/TXT extraction &amp; chunking</a:t>
            </a:r>
            <a:br/>
            <a:r>
              <a:t>│   ├── rag.py              ← FAISS vector store retrieval engine</a:t>
            </a:r>
            <a:br/>
            <a:r>
              <a:t>│   └── web_search.py       ← DuckDuckGo live web search</a:t>
            </a:r>
            <a:br/>
            <a:r>
              <a:t>├── app.py                  ← Main Streamlit application</a:t>
            </a:r>
            <a:br/>
            <a:r>
              <a:t>└── requirements.txt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Data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6B7280"/>
                </a:solidFill>
                <a:latin typeface="Calibri"/>
              </a:defRPr>
            </a:pPr>
            <a:r>
              <a:t>1️⃣  User uploads documents via sidebar</a:t>
            </a:r>
          </a:p>
          <a:p>
            <a:pPr>
              <a:spcAft>
                <a:spcPts val="1000"/>
              </a:spcAft>
              <a:defRPr sz="1600">
                <a:solidFill>
                  <a:srgbClr val="6B7280"/>
                </a:solidFill>
                <a:latin typeface="Calibri"/>
              </a:defRPr>
            </a:pPr>
            <a:r>
              <a:t>2️⃣  Text extracted → split into 400-word chunks</a:t>
            </a:r>
          </a:p>
          <a:p>
            <a:pPr>
              <a:spcAft>
                <a:spcPts val="1000"/>
              </a:spcAft>
              <a:defRPr sz="1600">
                <a:solidFill>
                  <a:srgbClr val="6B7280"/>
                </a:solidFill>
                <a:latin typeface="Calibri"/>
              </a:defRPr>
            </a:pPr>
            <a:r>
              <a:t>3️⃣  Chunks embedded → stored in FAISS index</a:t>
            </a:r>
          </a:p>
          <a:p>
            <a:pPr>
              <a:spcAft>
                <a:spcPts val="1000"/>
              </a:spcAft>
              <a:defRPr sz="1600">
                <a:solidFill>
                  <a:srgbClr val="6B7280"/>
                </a:solidFill>
                <a:latin typeface="Calibri"/>
              </a:defRPr>
            </a:pPr>
            <a:r>
              <a:t>4️⃣  User asks a question</a:t>
            </a:r>
          </a:p>
          <a:p>
            <a:pPr>
              <a:spcAft>
                <a:spcPts val="1000"/>
              </a:spcAft>
              <a:defRPr sz="1600">
                <a:solidFill>
                  <a:srgbClr val="6B7280"/>
                </a:solidFill>
                <a:latin typeface="Calibri"/>
              </a:defRPr>
            </a:pPr>
            <a:r>
              <a:t>5️⃣  Query embedded → top-4 similar chunks retrieved</a:t>
            </a:r>
          </a:p>
          <a:p>
            <a:pPr>
              <a:spcAft>
                <a:spcPts val="1000"/>
              </a:spcAft>
              <a:defRPr sz="1600">
                <a:solidFill>
                  <a:srgbClr val="6B7280"/>
                </a:solidFill>
                <a:latin typeface="Calibri"/>
              </a:defRPr>
            </a:pPr>
            <a:r>
              <a:t>6️⃣  (Optional) DuckDuckGo web search runs</a:t>
            </a:r>
          </a:p>
          <a:p>
            <a:pPr>
              <a:spcAft>
                <a:spcPts val="1000"/>
              </a:spcAft>
              <a:defRPr sz="1600">
                <a:solidFill>
                  <a:srgbClr val="6B7280"/>
                </a:solidFill>
                <a:latin typeface="Calibri"/>
              </a:defRPr>
            </a:pPr>
            <a:r>
              <a:t>7️⃣  Context + query → sent to chosen LLM</a:t>
            </a:r>
          </a:p>
          <a:p>
            <a:pPr>
              <a:spcAft>
                <a:spcPts val="1000"/>
              </a:spcAft>
              <a:defRPr sz="1600">
                <a:solidFill>
                  <a:srgbClr val="6B7280"/>
                </a:solidFill>
                <a:latin typeface="Calibri"/>
              </a:defRPr>
            </a:pPr>
            <a:r>
              <a:t>8️⃣  Response streamed with source attribution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67EEA"/>
                </a:solidFill>
                <a:latin typeface="Calibri"/>
              </a:defRPr>
            </a:pPr>
            <a:r>
              <a:t>Challenges &amp;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3657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0972800" cy="10972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361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7EEA"/>
                </a:solidFill>
                <a:latin typeface="Calibri"/>
              </a:defRPr>
            </a:pPr>
            <a:r>
              <a:t>Google SDK Deprecation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Challenge: The google-generativeai package was deprecated mid-development.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202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Calibri"/>
              </a:defRPr>
            </a:pPr>
            <a:r>
              <a:t>Solution: Migrated to the new google-genai SDK with updated API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10972800" cy="10972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70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7EEA"/>
                </a:solidFill>
                <a:latin typeface="Calibri"/>
              </a:defRPr>
            </a:pPr>
            <a:r>
              <a:t>Model Availability &amp; Rate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546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Challenge: Gemini 2.0 Flash hit free tier quota limits (429 errors). Older models (1.5) were retired.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1546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Calibri"/>
              </a:defRPr>
            </a:pPr>
            <a:r>
              <a:t>Solution: Updated to Gemini 2.5 series and added multi-model selector for fallback options.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10972800" cy="10972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05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7EEA"/>
                </a:solidFill>
                <a:latin typeface="Calibri"/>
              </a:defRPr>
            </a:pPr>
            <a:r>
              <a:t>Package Naming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891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Challenge: duckduckgo-search was renamed to ddgs, breaking Streamlit Cloud deployment.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3891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Calibri"/>
              </a:defRPr>
            </a:pPr>
            <a:r>
              <a:t>Solution: Updated imports and requirements to use the new package name.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166360"/>
            <a:ext cx="10972800" cy="10972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2395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7EEA"/>
                </a:solidFill>
                <a:latin typeface="Calibri"/>
              </a:defRPr>
            </a:pPr>
            <a:r>
              <a:t>API Key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235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Challenge: Pre-filled API keys in the UI could expose secrets to public app visitors.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56235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Calibri"/>
              </a:defRPr>
            </a:pPr>
            <a:r>
              <a:t>Solution: Keys from secrets are now hidden — only a confirmation badge is shown.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67EEA"/>
                </a:solidFill>
                <a:latin typeface="Calibri"/>
              </a:defRPr>
            </a:pPr>
            <a:r>
              <a:t>Deployment &amp; Links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3657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1645920"/>
            <a:ext cx="8503920" cy="10058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17373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🌐  Live App (Streamlit Cloud)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1488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EEA"/>
                </a:solidFill>
                <a:latin typeface="Calibri"/>
              </a:defRPr>
            </a:pPr>
            <a:r>
              <a:t>https://smartscholar-ai-vardhan.streamlit.app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0"/>
            <a:ext cx="8503920" cy="10058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30175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Calibri"/>
              </a:defRPr>
            </a:pPr>
            <a:r>
              <a:t>📂  GitHub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4290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EEA"/>
                </a:solidFill>
                <a:latin typeface="Calibri"/>
              </a:defRPr>
            </a:pPr>
            <a:r>
              <a:t>https://github.com/Vardhankumarks/smartscholar-ai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Deployment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6B7280"/>
                </a:solidFill>
                <a:latin typeface="Calibri"/>
              </a:defRPr>
            </a:pPr>
            <a:r>
              <a:t>• Hosted on Streamlit Cloud — auto-deploys from GitHub main branch</a:t>
            </a:r>
          </a:p>
          <a:p>
            <a:pPr>
              <a:spcAft>
                <a:spcPts val="1000"/>
              </a:spcAft>
              <a:defRPr sz="1600">
                <a:solidFill>
                  <a:srgbClr val="6B7280"/>
                </a:solidFill>
                <a:latin typeface="Calibri"/>
              </a:defRPr>
            </a:pPr>
            <a:r>
              <a:t>• API keys stored securely in Streamlit Secrets (never exposed in UI)</a:t>
            </a:r>
          </a:p>
          <a:p>
            <a:pPr>
              <a:spcAft>
                <a:spcPts val="1000"/>
              </a:spcAft>
              <a:defRPr sz="1600">
                <a:solidFill>
                  <a:srgbClr val="6B7280"/>
                </a:solidFill>
                <a:latin typeface="Calibri"/>
              </a:defRPr>
            </a:pPr>
            <a:r>
              <a:t>• No server management needed — fully serverless deployment</a:t>
            </a:r>
          </a:p>
          <a:p>
            <a:pPr>
              <a:spcAft>
                <a:spcPts val="1000"/>
              </a:spcAft>
              <a:defRPr sz="1600">
                <a:solidFill>
                  <a:srgbClr val="6B7280"/>
                </a:solidFill>
                <a:latin typeface="Calibri"/>
              </a:defRPr>
            </a:pPr>
            <a:r>
              <a:t>• Each user gets an isolated session — documents are never shared between visitors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667EEA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B7280"/>
                </a:solidFill>
                <a:latin typeface="Calibri"/>
              </a:defRPr>
            </a:pPr>
            <a:r>
              <a:t>SmartScholar AI — Where Technology Meets Knowledge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3840480"/>
            <a:ext cx="3931920" cy="36576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97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Calibri"/>
              </a:defRPr>
            </a:pPr>
            <a:r>
              <a:t>Vardhan Kumar K S  •  Vardhanks342@gmail.com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7EEA"/>
                </a:solidFill>
                <a:latin typeface="Calibri"/>
              </a:defRPr>
            </a:pPr>
            <a:r>
              <a:t>github.com/Vardhankumarks/smartscholar-ai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